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dzEUjrg977daDSOOnnGunqFhB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5049c5ae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e5049c5ae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g3e5049c5ae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eb387e3eb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eb387e3eb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g3eb387e3eb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50.png"/><Relationship Id="rId13" Type="http://schemas.openxmlformats.org/officeDocument/2006/relationships/image" Target="../media/image34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Relationship Id="rId15" Type="http://schemas.openxmlformats.org/officeDocument/2006/relationships/image" Target="../media/image37.png"/><Relationship Id="rId14" Type="http://schemas.openxmlformats.org/officeDocument/2006/relationships/image" Target="../media/image38.png"/><Relationship Id="rId17" Type="http://schemas.openxmlformats.org/officeDocument/2006/relationships/image" Target="../media/image41.png"/><Relationship Id="rId16" Type="http://schemas.openxmlformats.org/officeDocument/2006/relationships/image" Target="../media/image39.png"/><Relationship Id="rId5" Type="http://schemas.openxmlformats.org/officeDocument/2006/relationships/image" Target="../media/image27.png"/><Relationship Id="rId19" Type="http://schemas.openxmlformats.org/officeDocument/2006/relationships/image" Target="../media/image42.png"/><Relationship Id="rId6" Type="http://schemas.openxmlformats.org/officeDocument/2006/relationships/image" Target="../media/image1.png"/><Relationship Id="rId18" Type="http://schemas.openxmlformats.org/officeDocument/2006/relationships/image" Target="../media/image5.png"/><Relationship Id="rId7" Type="http://schemas.openxmlformats.org/officeDocument/2006/relationships/image" Target="../media/image28.png"/><Relationship Id="rId8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74320" y="164592"/>
            <a:ext cx="3291840" cy="347472"/>
          </a:xfrm>
          <a:prstGeom prst="roundRect">
            <a:avLst>
              <a:gd fmla="val 21053" name="adj"/>
            </a:avLst>
          </a:prstGeom>
          <a:solidFill>
            <a:srgbClr val="7B2FB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74320" y="16459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Atlanta Cloud + AI Conference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Shift-Left Performance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35331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Implementing Performance Signatures in CI/CD Pipelines</a:t>
            </a:r>
            <a:endParaRPr b="1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0" y="1920240"/>
            <a:ext cx="4572000" cy="365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if every commit carried a performance verdict, automatically?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70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731520" y="32461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17320" y="29032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2377440" y="2606040"/>
            <a:ext cx="594360" cy="594360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2670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2286000" y="32461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2971800" y="29032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1"/>
          <p:cNvSpPr/>
          <p:nvPr/>
        </p:nvSpPr>
        <p:spPr>
          <a:xfrm>
            <a:off x="3931920" y="2606040"/>
            <a:ext cx="594360" cy="594360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" name="Google Shape;3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3360" y="2670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3840480" y="32461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4526280" y="29032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5486400" y="2606040"/>
            <a:ext cx="594360" cy="594360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" name="Google Shape;3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2670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5394960" y="32461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1"/>
          <p:cNvCxnSpPr/>
          <p:nvPr/>
        </p:nvCxnSpPr>
        <p:spPr>
          <a:xfrm>
            <a:off x="6080760" y="29032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"/>
          <p:cNvSpPr/>
          <p:nvPr/>
        </p:nvSpPr>
        <p:spPr>
          <a:xfrm>
            <a:off x="7040880" y="2606040"/>
            <a:ext cx="594360" cy="594360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" name="Google Shape;3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20" y="2670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/>
          <p:nvPr/>
        </p:nvSpPr>
        <p:spPr>
          <a:xfrm>
            <a:off x="6949440" y="32461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0" y="4069080"/>
            <a:ext cx="9144000" cy="1069848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Kandasamy Selvaraj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Defects Are Expensive.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We Keep Finding Them Too Late.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50" y="1143000"/>
            <a:ext cx="2377500" cy="18105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1207008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42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1× to fix in development. </a:t>
            </a:r>
            <a:endParaRPr b="1" i="0" sz="1100" u="none" cap="none" strike="noStrike">
              <a:solidFill>
                <a:srgbClr val="A855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42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60 to 100× to fix in production.</a:t>
            </a:r>
            <a:endParaRPr b="1" i="0" sz="1100" u="none" cap="none" strike="noStrike">
              <a:solidFill>
                <a:srgbClr val="A855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42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                 Source: CISQ, 2022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2007984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Cost multiplier when defects reach production vs. development.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2161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3291840" y="117043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Testing happens post-feature. Debugging context of code changes is already gone.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5636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3291840" y="1517904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Specialized teams support and dependency that last hours or days to get feedback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911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3291851" y="1885933"/>
            <a:ext cx="576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Agentic AI is probabilistic, not deterministic, without guardrails, failures can cascade</a:t>
            </a:r>
            <a:endParaRPr b="0" i="0" sz="1250" u="none" cap="none" strike="noStrike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2585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3291840" y="221284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Pass/fail relies on manual, subjective interpretation.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6060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3291840" y="256032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Microservices make late-stage testing unpredictable.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9535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3291840" y="290779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Developers get no continuous feedback loop on performance.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20040" y="3767328"/>
            <a:ext cx="502920" cy="502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37160" y="43159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37160" y="453542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Low cost to fix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2"/>
          <p:cNvCxnSpPr/>
          <p:nvPr/>
        </p:nvCxnSpPr>
        <p:spPr>
          <a:xfrm>
            <a:off x="822960" y="4014216"/>
            <a:ext cx="1216152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2"/>
          <p:cNvSpPr/>
          <p:nvPr/>
        </p:nvSpPr>
        <p:spPr>
          <a:xfrm>
            <a:off x="2039112" y="3767328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856232" y="43159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856232" y="453542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Rising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2"/>
          <p:cNvCxnSpPr/>
          <p:nvPr/>
        </p:nvCxnSpPr>
        <p:spPr>
          <a:xfrm>
            <a:off x="2542032" y="4014216"/>
            <a:ext cx="1216152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2"/>
          <p:cNvSpPr/>
          <p:nvPr/>
        </p:nvSpPr>
        <p:spPr>
          <a:xfrm>
            <a:off x="3758184" y="3767328"/>
            <a:ext cx="502920" cy="50292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575304" y="43159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575304" y="453542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Higher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4261104" y="4014216"/>
            <a:ext cx="1216152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/>
          <p:nvPr/>
        </p:nvSpPr>
        <p:spPr>
          <a:xfrm>
            <a:off x="5477256" y="3767328"/>
            <a:ext cx="502920" cy="50292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294375" y="4315975"/>
            <a:ext cx="104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294376" y="453542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Very high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2"/>
          <p:cNvCxnSpPr/>
          <p:nvPr/>
        </p:nvCxnSpPr>
        <p:spPr>
          <a:xfrm>
            <a:off x="5980176" y="4014216"/>
            <a:ext cx="1216152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2"/>
          <p:cNvSpPr/>
          <p:nvPr/>
        </p:nvSpPr>
        <p:spPr>
          <a:xfrm>
            <a:off x="7196328" y="3767328"/>
            <a:ext cx="502920" cy="502920"/>
          </a:xfrm>
          <a:prstGeom prst="ellipse">
            <a:avLst/>
          </a:prstGeom>
          <a:solidFill>
            <a:srgbClr val="7F1D1D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013448" y="43159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013448" y="453542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Extremely high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Commit Carries a Performance Verdict.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Here is how we make that happen automatically.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1051560"/>
            <a:ext cx="4023360" cy="2788920"/>
          </a:xfrm>
          <a:prstGeom prst="rect">
            <a:avLst/>
          </a:prstGeom>
          <a:solidFill>
            <a:srgbClr val="1C0A0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5087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713232" y="14630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Performance tested once, late in the cycle.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20391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713232" y="1993392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Manual expert reviews creating team bottlenecks.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25694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713232" y="2523744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Static thresholds that go stale after each release and fiscal year.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30998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713232" y="3054096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Feedback arrives days after the code was written.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846320" y="1051560"/>
            <a:ext cx="4023360" cy="2788920"/>
          </a:xfrm>
          <a:prstGeom prst="rect">
            <a:avLst/>
          </a:prstGeom>
          <a:solidFill>
            <a:srgbClr val="071C1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846320" y="105156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15087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5285232" y="14630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Performance validated at every code commit.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20391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5285232" y="1993392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Automated statistical gates. Zero specialist needed.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25694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285232" y="2523744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AI-learned baselines that evolve with the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912" y="30998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5285232" y="3054096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Actionable feedback within 15 to 20 minutes.</a:t>
            </a:r>
            <a:endParaRPr b="0" i="0" sz="1200" u="none" cap="none" strike="noStrike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22128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This framework sits in the Agile/DevOps space: continuous, automated, and invisible to the developer once set 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02920" y="440740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Feedback in 15 to 20 minutes. Self-service. Zero specialized expertise required.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 Layers. One Pipeline. No Manual Gates.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5760" y="5760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production-validated architecture where performance is enforced, not reviewed.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74320" y="987552"/>
            <a:ext cx="8595360" cy="56692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987552"/>
            <a:ext cx="457200" cy="56692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98755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097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1298448" y="10241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Self-Service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98448" y="126187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Git-triggered pipelines, parameterized test scripts, 15-minute zero-expertise setup.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1554480"/>
            <a:ext cx="109728" cy="6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274320" y="1618488"/>
            <a:ext cx="8595360" cy="56692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4320" y="1618488"/>
            <a:ext cx="457200" cy="56692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74320" y="161848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" y="17282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1298448" y="16550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298448" y="189280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Declarative DSL, performance signature gates at 99.5% accuracy, parallel execution.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2185416"/>
            <a:ext cx="109728" cy="6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274320" y="2249424"/>
            <a:ext cx="8595360" cy="56692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4320" y="2249424"/>
            <a:ext cx="457200" cy="56692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4320" y="224942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" y="23591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1298448" y="22860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298448" y="252374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JMeter 10 to 1K users, Kubernetes auto-scaling, real-time metrics streaming.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2816352"/>
            <a:ext cx="109728" cy="6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2880360"/>
            <a:ext cx="457200" cy="566928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74320" y="288036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248" y="29900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1298448" y="291693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298448" y="315468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Inject build context into traces. Your APM tool correlates commit to bottleneck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3447288"/>
            <a:ext cx="109728" cy="6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274320" y="3511296"/>
            <a:ext cx="8595360" cy="56692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74320" y="3511296"/>
            <a:ext cx="457200" cy="56692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74320" y="351129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" y="36210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1298448" y="35478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Persistence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298448" y="3785616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30-day statistical baseline, trend analysis, adaptive threshold calibration.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4078224"/>
            <a:ext cx="109728" cy="6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274320" y="4142232"/>
            <a:ext cx="8595360" cy="566928"/>
          </a:xfrm>
          <a:prstGeom prst="rect">
            <a:avLst/>
          </a:prstGeom>
          <a:solidFill>
            <a:srgbClr val="071C1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74320" y="4142232"/>
            <a:ext cx="457200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74320" y="414223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248" y="4251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1298448" y="41788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Decision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298448" y="441655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ML-powered go/no-go gate. Anomaly detection replaces static thresholds. Autonomous and explainable.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8458200" y="430682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365750" y="13715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Subjective Thresholds to Objective Statistical Performance Signature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5750" y="868675"/>
            <a:ext cx="5654100" cy="13260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35" y="1014227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Deviation </a:t>
            </a:r>
            <a:endParaRPr b="1" i="0" sz="1500" u="none" cap="none" strike="noStrike">
              <a:solidFill>
                <a:srgbClr val="A855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885510" y="1014227"/>
            <a:ext cx="27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2514600" y="1261872"/>
            <a:ext cx="2792700" cy="75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2092725" y="978445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| Current p90 — Baseline p90 |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159700" y="1261886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Baseline Standard Deviation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65760" y="2286000"/>
            <a:ext cx="5577840" cy="640080"/>
          </a:xfrm>
          <a:prstGeom prst="rect">
            <a:avLst/>
          </a:prstGeom>
          <a:solidFill>
            <a:srgbClr val="1C0A0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957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969264" y="235915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50ms increase with 20ms σ = 2.5σ deviation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297680" y="23591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FLAGGED.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063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822950" y="3054100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Baselines built from 30 days of history, minimum 10 successful runs, using mean and standard deviation per metric.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217920" y="841248"/>
            <a:ext cx="2651760" cy="74980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224" y="9875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6784848" y="8961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Objectivity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784848" y="11338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Mathematically defined pass/fail.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217920" y="1755648"/>
            <a:ext cx="2651760" cy="74980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7" name="Google Shape;18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4224" y="19019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/>
          <p:nvPr/>
        </p:nvSpPr>
        <p:spPr>
          <a:xfrm>
            <a:off x="6784848" y="18105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Adaptability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784848" y="20482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Baselines evolve as the app improves.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217920" y="2670048"/>
            <a:ext cx="2651760" cy="74980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4224" y="28163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6784848" y="27249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784848" y="29626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Detects small but statistically significant regressions.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217920" y="3584448"/>
            <a:ext cx="2651760" cy="74980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37307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/>
          <p:nvPr/>
        </p:nvSpPr>
        <p:spPr>
          <a:xfrm>
            <a:off x="6784848" y="36393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784848" y="38770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Developers intuitively understand standard deviations.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74320" y="4404301"/>
            <a:ext cx="8595300" cy="502800"/>
          </a:xfrm>
          <a:prstGeom prst="rect">
            <a:avLst/>
          </a:prstGeom>
          <a:solidFill>
            <a:srgbClr val="071C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static threshold tells you whether a number is acceptable. 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deviation score tells you whether a number is normal.</a:t>
            </a: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Multi-Dimensional Performance Gate. No Guesswork.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5760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dimension must pass. Break one and the build stops — with a reason.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88720" y="9601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114800" y="9601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949440" y="96012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74320" y="1389888"/>
            <a:ext cx="8595360" cy="47548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804672" y="138988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7600" y="1389888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p50, p90 latency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766560" y="13898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±2σ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74320" y="1901952"/>
            <a:ext cx="8595360" cy="475488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011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804672" y="1901952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657600" y="1901952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Requests per second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766560" y="19019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±2σ 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274320" y="2414016"/>
            <a:ext cx="8595360" cy="475488"/>
          </a:xfrm>
          <a:prstGeom prst="rect">
            <a:avLst/>
          </a:prstGeom>
          <a:solidFill>
            <a:srgbClr val="2D0A0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1" name="Google Shape;2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25237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/>
          <p:nvPr/>
        </p:nvSpPr>
        <p:spPr>
          <a:xfrm>
            <a:off x="804672" y="2414016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Error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657600" y="2414016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HTTP errors, exceptions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766560" y="241401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+1% absolute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74320" y="288950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GATE TRIGGERED: Root cause analysis starts automatically.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274320" y="2926080"/>
            <a:ext cx="8595360" cy="475488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7" name="Google Shape;22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35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804672" y="292608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Resource Utilization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657600" y="292608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CPU, memory, network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766560" y="292608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±3σ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74320" y="3438144"/>
            <a:ext cx="8595360" cy="475488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2" name="Google Shape;23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480" y="3547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804672" y="3438144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Performance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657600" y="3438144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time, connection count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766560" y="3438144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±2σ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74320" y="4224528"/>
            <a:ext cx="8595360" cy="502920"/>
          </a:xfrm>
          <a:prstGeom prst="rect">
            <a:avLst/>
          </a:prstGeom>
          <a:solidFill>
            <a:srgbClr val="071C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7" name="Google Shape;23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912" y="43434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786384" y="427024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All five dimensions must pass. Your observability tool surfaces the why — not just the what.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Commit to Performance Verdict in 15 to 20 Minutes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8288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8288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7"/>
          <p:cNvCxnSpPr/>
          <p:nvPr/>
        </p:nvCxnSpPr>
        <p:spPr>
          <a:xfrm>
            <a:off x="84124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7"/>
          <p:cNvCxnSpPr/>
          <p:nvPr/>
        </p:nvCxnSpPr>
        <p:spPr>
          <a:xfrm>
            <a:off x="45720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9" name="Google Shape;249;p7"/>
          <p:cNvSpPr/>
          <p:nvPr/>
        </p:nvSpPr>
        <p:spPr>
          <a:xfrm>
            <a:off x="42976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Code Commit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20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Git webhook,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commit SHA + branch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128016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28016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193852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155448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152704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14300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Build &amp; Unit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1143000" y="2156077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Parallel CI compile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+ infra prep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37744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37744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303580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265176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3" name="Google Shape;263;p7"/>
          <p:cNvSpPr/>
          <p:nvPr/>
        </p:nvSpPr>
        <p:spPr>
          <a:xfrm>
            <a:off x="262432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24028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Baseline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240280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30-day statistical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API query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47472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47472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413308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7"/>
          <p:cNvCxnSpPr/>
          <p:nvPr/>
        </p:nvCxnSpPr>
        <p:spPr>
          <a:xfrm>
            <a:off x="374904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372160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33756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JMeter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337560" y="2197028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Distributed load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APM tagging headers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57200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7"/>
          <p:cNvCxnSpPr/>
          <p:nvPr/>
        </p:nvCxnSpPr>
        <p:spPr>
          <a:xfrm>
            <a:off x="523036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7"/>
          <p:cNvCxnSpPr/>
          <p:nvPr/>
        </p:nvCxnSpPr>
        <p:spPr>
          <a:xfrm>
            <a:off x="484632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7" name="Google Shape;277;p7"/>
          <p:cNvSpPr/>
          <p:nvPr/>
        </p:nvSpPr>
        <p:spPr>
          <a:xfrm>
            <a:off x="481888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43484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Real-Time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434840" y="2197028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Live dashboards via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66928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66928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7"/>
          <p:cNvCxnSpPr/>
          <p:nvPr/>
        </p:nvCxnSpPr>
        <p:spPr>
          <a:xfrm>
            <a:off x="632764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7"/>
          <p:cNvCxnSpPr/>
          <p:nvPr/>
        </p:nvCxnSpPr>
        <p:spPr>
          <a:xfrm>
            <a:off x="594360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4" name="Google Shape;284;p7"/>
          <p:cNvSpPr/>
          <p:nvPr/>
        </p:nvSpPr>
        <p:spPr>
          <a:xfrm>
            <a:off x="591616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53212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Metric Collection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532120" y="2188838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JTL + APM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parallel aggregation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76656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76656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7"/>
          <p:cNvCxnSpPr/>
          <p:nvPr/>
        </p:nvCxnSpPr>
        <p:spPr>
          <a:xfrm>
            <a:off x="7424928" y="110642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7"/>
          <p:cNvCxnSpPr/>
          <p:nvPr/>
        </p:nvCxnSpPr>
        <p:spPr>
          <a:xfrm>
            <a:off x="704088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1" name="Google Shape;291;p7"/>
          <p:cNvSpPr/>
          <p:nvPr/>
        </p:nvSpPr>
        <p:spPr>
          <a:xfrm>
            <a:off x="701344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662940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629400" y="2229789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Deviation scores: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p50/p90, throughput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7863840" y="777240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7863840" y="777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7"/>
          <p:cNvCxnSpPr/>
          <p:nvPr/>
        </p:nvCxnSpPr>
        <p:spPr>
          <a:xfrm>
            <a:off x="8138160" y="143560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7" name="Google Shape;297;p7"/>
          <p:cNvSpPr/>
          <p:nvPr/>
        </p:nvSpPr>
        <p:spPr>
          <a:xfrm>
            <a:off x="8110728" y="1664208"/>
            <a:ext cx="164592" cy="16459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7726675" y="1883678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Performance 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7726680" y="2253867"/>
            <a:ext cx="91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Pass: baseline updates.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Fail: root cause opens.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7"/>
          <p:cNvCxnSpPr/>
          <p:nvPr/>
        </p:nvCxnSpPr>
        <p:spPr>
          <a:xfrm>
            <a:off x="7333488" y="2798064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7"/>
          <p:cNvCxnSpPr/>
          <p:nvPr/>
        </p:nvCxnSpPr>
        <p:spPr>
          <a:xfrm flipH="1">
            <a:off x="6510528" y="2798064"/>
            <a:ext cx="822960" cy="502920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7"/>
          <p:cNvCxnSpPr/>
          <p:nvPr/>
        </p:nvCxnSpPr>
        <p:spPr>
          <a:xfrm>
            <a:off x="7333488" y="2798064"/>
            <a:ext cx="822960" cy="502920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7"/>
          <p:cNvSpPr/>
          <p:nvPr/>
        </p:nvSpPr>
        <p:spPr>
          <a:xfrm>
            <a:off x="603504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777240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274320" y="3730752"/>
            <a:ext cx="8595360" cy="1024128"/>
          </a:xfrm>
          <a:prstGeom prst="rect">
            <a:avLst/>
          </a:prstGeom>
          <a:solidFill>
            <a:srgbClr val="071C1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6" name="Google Shape;3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587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7"/>
          <p:cNvSpPr/>
          <p:nvPr/>
        </p:nvSpPr>
        <p:spPr>
          <a:xfrm>
            <a:off x="987552" y="3785616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 an Agentic AI pipeline, Steps 3 to 8 run autonomously.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987552" y="4087368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The AI agent retrieves baselines, executes load, collects metrics, scores deviations, and issues a go/no-go with a plain-English explanation. No human in the loop.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Integration Patterns That Work With Any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65760" y="57607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tools are examples. The patterns are what matter.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228600" y="960120"/>
            <a:ext cx="2788920" cy="1874520"/>
          </a:xfrm>
          <a:prstGeom prst="rect">
            <a:avLst/>
          </a:prstGeom>
          <a:solidFill>
            <a:srgbClr val="1E1B4B"/>
          </a:solidFill>
          <a:ln cap="flat" cmpd="sng" w="101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7" name="Google Shape;3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" y="1051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/>
          <p:nvPr/>
        </p:nvSpPr>
        <p:spPr>
          <a:xfrm>
            <a:off x="795528" y="10424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795528" y="1280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Jenkins  ↔  JMeter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8"/>
          <p:cNvCxnSpPr/>
          <p:nvPr/>
        </p:nvCxnSpPr>
        <p:spPr>
          <a:xfrm>
            <a:off x="338328" y="1554480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8"/>
          <p:cNvSpPr/>
          <p:nvPr/>
        </p:nvSpPr>
        <p:spPr>
          <a:xfrm>
            <a:off x="338328" y="1627632"/>
            <a:ext cx="2578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Pipeline triggers load execution, parses results, and enforces performance gates on every build.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3154680" y="960120"/>
            <a:ext cx="2788920" cy="1874520"/>
          </a:xfrm>
          <a:prstGeom prst="rect">
            <a:avLst/>
          </a:prstGeom>
          <a:solidFill>
            <a:srgbClr val="1E1B4B"/>
          </a:solidFill>
          <a:ln cap="flat" cmpd="sng" w="101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3" name="Google Shape;3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408" y="1051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8"/>
          <p:cNvSpPr/>
          <p:nvPr/>
        </p:nvSpPr>
        <p:spPr>
          <a:xfrm>
            <a:off x="3721608" y="10424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3721608" y="1280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JMeter  ↔  Your APM Tool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8"/>
          <p:cNvCxnSpPr/>
          <p:nvPr/>
        </p:nvCxnSpPr>
        <p:spPr>
          <a:xfrm>
            <a:off x="3264408" y="1554480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8"/>
          <p:cNvSpPr/>
          <p:nvPr/>
        </p:nvSpPr>
        <p:spPr>
          <a:xfrm>
            <a:off x="3264408" y="1627632"/>
            <a:ext cx="2578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Inject build context into every request. Your observability layer correlates commit to bottleneck automatically.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080760" y="960120"/>
            <a:ext cx="2788920" cy="1874520"/>
          </a:xfrm>
          <a:prstGeom prst="rect">
            <a:avLst/>
          </a:prstGeom>
          <a:solidFill>
            <a:srgbClr val="1E1B4B"/>
          </a:solidFill>
          <a:ln cap="flat" cmpd="sng" w="101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9" name="Google Shape;3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0488" y="1051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"/>
          <p:cNvSpPr/>
          <p:nvPr/>
        </p:nvSpPr>
        <p:spPr>
          <a:xfrm>
            <a:off x="6647688" y="10424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Visibility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647688" y="1280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JMeter  ↔  Grafana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8"/>
          <p:cNvCxnSpPr/>
          <p:nvPr/>
        </p:nvCxnSpPr>
        <p:spPr>
          <a:xfrm>
            <a:off x="6190488" y="1554480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8"/>
          <p:cNvSpPr/>
          <p:nvPr/>
        </p:nvSpPr>
        <p:spPr>
          <a:xfrm>
            <a:off x="6190488" y="1627632"/>
            <a:ext cx="2578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Real-time metrics during the test. 90-day trend history across builds so teams see performance evolving over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28600" y="2926080"/>
            <a:ext cx="8686800" cy="1627632"/>
          </a:xfrm>
          <a:prstGeom prst="rect">
            <a:avLst/>
          </a:prstGeom>
          <a:solidFill>
            <a:srgbClr val="0A0A1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28600" y="2926075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// Inject build context into every load test request — works with i.e Dynatrace, Datadog, New Relic, or any APM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11480" y="323697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httpSampler.addNonEncodedArgument("X-Build-ID",    "${BUILD_ID}",    "");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11480" y="34564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httpSampler.addNonEncodedArgument("X-Commit-SHA",  "${GIT_COMMIT}",  "");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11480" y="3675888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httpSampler.addNonEncodedArgument("X-Branch",      "${BRANCH_NAME}", "");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11480" y="39136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Your APM now links every trace back to the exact commit that triggered 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28600" y="4572000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Tag your traffic. Any APM that reads HTTP headers can now trace a performance problem back to the exact commit.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 Did It: 8 Weeks.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65760" y="57607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real microservices system. No shortcuts.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274320" y="960120"/>
            <a:ext cx="3017520" cy="288036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365760" y="10058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SYSTEM UNDER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9"/>
          <p:cNvCxnSpPr/>
          <p:nvPr/>
        </p:nvCxnSpPr>
        <p:spPr>
          <a:xfrm>
            <a:off x="365760" y="1298448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51" name="Google Shape;3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9"/>
          <p:cNvCxnSpPr/>
          <p:nvPr/>
        </p:nvCxnSpPr>
        <p:spPr>
          <a:xfrm>
            <a:off x="804672" y="1417320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9"/>
          <p:cNvSpPr/>
          <p:nvPr/>
        </p:nvSpPr>
        <p:spPr>
          <a:xfrm>
            <a:off x="896112" y="138988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50+ microservices: Java Spring Boot + React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1984248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9"/>
          <p:cNvCxnSpPr/>
          <p:nvPr/>
        </p:nvCxnSpPr>
        <p:spPr>
          <a:xfrm>
            <a:off x="804672" y="1984248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9"/>
          <p:cNvSpPr/>
          <p:nvPr/>
        </p:nvSpPr>
        <p:spPr>
          <a:xfrm>
            <a:off x="896112" y="1956816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Kubernetes on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255117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9"/>
          <p:cNvCxnSpPr/>
          <p:nvPr/>
        </p:nvCxnSpPr>
        <p:spPr>
          <a:xfrm>
            <a:off x="804672" y="2551176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"/>
          <p:cNvSpPr/>
          <p:nvPr/>
        </p:nvSpPr>
        <p:spPr>
          <a:xfrm>
            <a:off x="896112" y="2523744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RDS + Redis Cache + Event Streaming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" y="3118104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9"/>
          <p:cNvCxnSpPr/>
          <p:nvPr/>
        </p:nvCxnSpPr>
        <p:spPr>
          <a:xfrm>
            <a:off x="804672" y="3118104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9"/>
          <p:cNvSpPr/>
          <p:nvPr/>
        </p:nvSpPr>
        <p:spPr>
          <a:xfrm>
            <a:off x="896112" y="309067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Around </a:t>
            </a: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50,000 -  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0,000 requests/minute peak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429000" y="960120"/>
            <a:ext cx="5440680" cy="2880360"/>
          </a:xfrm>
          <a:prstGeom prst="rect">
            <a:avLst/>
          </a:prstGeom>
          <a:solidFill>
            <a:srgbClr val="071525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520440" y="100584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8-WEEK IMPLEMENTATION TIMELINE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3520440" y="1298448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9"/>
          <p:cNvSpPr/>
          <p:nvPr/>
        </p:nvSpPr>
        <p:spPr>
          <a:xfrm>
            <a:off x="3566160" y="1481328"/>
            <a:ext cx="201168" cy="20116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840480" y="1389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983480" y="13898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← Start here 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840480" y="1627632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IaC provisioning + AI-assisted config generation for Jenkins, Prometheus, Grafana, your APM tool.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3566160" y="1956816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840480" y="1865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Weeks 2 to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3840480" y="2103120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LLM generates JMeter scripts from OpenAPI specs and production traffic logs.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566160" y="2432304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840480" y="23408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Weeks 4 to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3840480" y="2578608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Declarative DSL, performance signature gates, adaptive baseline tuning.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3566160" y="2907792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3840480" y="281635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840480" y="3054096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Top 5 critical workflows with intelligent gate validation.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566160" y="338328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840480" y="32918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Weeks 7 to 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840480" y="3529584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AI-generated runbooks, self-service templates, team onboarding.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274320" y="3913632"/>
            <a:ext cx="8595360" cy="68580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3" name="Google Shape;38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912" y="40599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9"/>
          <p:cNvSpPr/>
          <p:nvPr/>
        </p:nvSpPr>
        <p:spPr>
          <a:xfrm>
            <a:off x="822960" y="39684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How we measured it: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822960" y="4206240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We tracked the same metrics for 6 months before rollout, then 6 months after. Same system, same conditions, no cherry-picking.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Problems Caught Earlier.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2600"/>
              <a:buFont typeface="Calibri"/>
              <a:buNone/>
            </a:pPr>
            <a:r>
              <a:rPr b="0" i="0" lang="en-US" sz="2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Fewer Reaching Production.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74320" y="1024128"/>
            <a:ext cx="8595360" cy="38404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274320" y="10241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2423160" y="10241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572000" y="10241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720840" y="10241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274320" y="1938528"/>
            <a:ext cx="8595360" cy="45720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11480" y="19385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Defects Found in Development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2423160" y="1938528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572000" y="1938528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6720840" y="193852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+222%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274320" y="2432304"/>
            <a:ext cx="8595360" cy="45720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11480" y="243230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Defects Found in Test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2423160" y="2432304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572000" y="2432304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720840" y="243230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-11.4%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74320" y="2926080"/>
            <a:ext cx="8595360" cy="45720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11480" y="29260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MTTD (hours)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423160" y="29260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52.3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572000" y="29260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720840" y="29260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-99.2%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274320" y="3977640"/>
            <a:ext cx="109728" cy="7498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02920" y="40416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MTTD: 52 hours → 24 minutes.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Immediate automated feedback fundamentally changes operational efficiency.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Numbers: Culture and Developer Experience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274320" y="987552"/>
            <a:ext cx="2834640" cy="324612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274320" y="1115568"/>
            <a:ext cx="2834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411480" y="2084832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of failures came with an automated root cause.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411480" y="260604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Nobody had to investigate manually. The system told them where to look.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337560" y="987552"/>
            <a:ext cx="5532120" cy="150876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3493008" y="105156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Self Service Model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3577503" y="1330450"/>
            <a:ext cx="452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Increased confidence in their own code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577503" y="1659685"/>
            <a:ext cx="452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Faster feature delivery and reduced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3493008" y="2103120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3337560" y="2606040"/>
            <a:ext cx="5532120" cy="1627632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493008" y="2670048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ROOT CAUSE BREAKDOWN  (APM Tool)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493008" y="3054096"/>
            <a:ext cx="164592" cy="16459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730752" y="30175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4206240" y="301752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query inefficiencies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3493008" y="3291840"/>
            <a:ext cx="164592" cy="16459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3730752" y="325526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27%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4206240" y="3255264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N+1 queries and duplicate API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3493008" y="3529584"/>
            <a:ext cx="164592" cy="164592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3730752" y="34930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4206240" y="3493008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Thread and connection contention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3493008" y="3767328"/>
            <a:ext cx="164592" cy="1645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3730752" y="37307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4206240" y="373075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Infrastructure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3493008" y="4005072"/>
            <a:ext cx="164592" cy="164592"/>
          </a:xfrm>
          <a:prstGeom prst="rect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3730752" y="396849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206240" y="3968496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071C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When developers trust the feedback loop, they stop avoiding performance. That cultural shift showed up in the data: 30% faster delivery and 60% fewer escalations.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3577503" y="1968260"/>
            <a:ext cx="452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Improve overall application Performance and SLA/SLO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Constraints and Lessons Learned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365760" y="57607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framework is perfect. Here is what we learned the hard way.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2D0A0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0" name="Google Shape;4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" y="1024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4"/>
          <p:cNvSpPr/>
          <p:nvPr/>
        </p:nvSpPr>
        <p:spPr>
          <a:xfrm>
            <a:off x="694944" y="9875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Key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274320" y="1371600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2D0A0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38912" y="14264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Cold start takes 5 to 10 runs.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438912" y="166420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The AI needs data before it can gate reliably. We hardcoded manual thresholds for the first sprint. Plan for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274320" y="2340864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2D0A0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38912" y="23957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18 minutes adds up for fast teams.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438912" y="26334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High-frequency commit teams felt the pipeline drag. We moved performance gates to nightly for those branches.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274320" y="3310128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2D0A0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438912" y="33649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Training still takes 6 to 8 hours.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438912" y="36027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Self-service templates helped but did not replace onboarding. Budget a interactive 2 to 3 hour session per team, not an email.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071C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2" name="Google Shape;4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024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/>
          <p:nvPr/>
        </p:nvSpPr>
        <p:spPr>
          <a:xfrm>
            <a:off x="5138928" y="9875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Proven 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4709160" y="1371600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071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4864608" y="14264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Start with your highest-risk journeys.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4864608" y="166420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Pick the 5 workflows that would cost the most if they regressed. Prove value there first, then expand.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709160" y="2340864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071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4864608" y="23957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Run 10 successful tests before enabling gates.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4864608" y="26334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Gates armed too early produce noise. Patience in week 1,2 saves frustration in weeks 3 through 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4709160" y="3310128"/>
            <a:ext cx="4160520" cy="868680"/>
          </a:xfrm>
          <a:prstGeom prst="rect">
            <a:avLst/>
          </a:prstGeom>
          <a:solidFill>
            <a:srgbClr val="1A1535"/>
          </a:solidFill>
          <a:ln cap="flat" cmpd="sng" w="12700">
            <a:solidFill>
              <a:srgbClr val="071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4864608" y="33649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Celebrate developers who catch their own regressions.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4864608" y="36027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Culture follows incentives. Public credit for self-caught issues changed behavior faster than any tool.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/>
          <p:nvPr/>
        </p:nvSpPr>
        <p:spPr>
          <a:xfrm>
            <a:off x="274320" y="13716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Foundation for Next-Generation Performance Engineering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201168" y="804672"/>
            <a:ext cx="1627632" cy="96012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201168" y="84124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600"/>
              <a:buFont typeface="Calibri"/>
              <a:buNone/>
            </a:pPr>
            <a:r>
              <a:rPr b="1" i="0" lang="en-US" sz="2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-30 to 40%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201168" y="13716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Performance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956816" y="804672"/>
            <a:ext cx="1627632" cy="96012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1956816" y="84124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-44%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1956816" y="13716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3712464" y="804672"/>
            <a:ext cx="1627632" cy="96012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3712464" y="84124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-30%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3712464" y="13716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Release 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5468112" y="804672"/>
            <a:ext cx="1627632" cy="96012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5468112" y="84124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98.9%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5468112" y="13716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Gate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7223760" y="804672"/>
            <a:ext cx="1627632" cy="96012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7223760" y="84124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Days</a:t>
            </a:r>
            <a:r>
              <a:rPr b="1" i="0" lang="en-US" sz="17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US" sz="1700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7223760" y="13716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MTTD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274320" y="1874520"/>
            <a:ext cx="8595360" cy="804672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274320" y="1874520"/>
            <a:ext cx="109728" cy="80467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502920" y="19202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Statistical baseline comparison transforms performance gates from subjective manual interpretation to objective, reproducible, automated decisions — making performance a natural part of every developer's workflow.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201168" y="2788920"/>
            <a:ext cx="2066544" cy="141732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8" name="Google Shape;5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8620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5"/>
          <p:cNvSpPr/>
          <p:nvPr/>
        </p:nvSpPr>
        <p:spPr>
          <a:xfrm>
            <a:off x="694944" y="283464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AI-Enhanced Test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274320" y="3273552"/>
            <a:ext cx="190195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ML-based test plan synthesis from production traffic.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2414016" y="2788920"/>
            <a:ext cx="2066544" cy="141732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2" name="Google Shape;5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7168" y="28620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5"/>
          <p:cNvSpPr/>
          <p:nvPr/>
        </p:nvSpPr>
        <p:spPr>
          <a:xfrm>
            <a:off x="2907792" y="283464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Predictive Performance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2487168" y="3273552"/>
            <a:ext cx="190195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Predict regression risk before execution runs.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4626864" y="2788920"/>
            <a:ext cx="2066544" cy="141732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6" name="Google Shape;5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28620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5"/>
          <p:cNvSpPr/>
          <p:nvPr/>
        </p:nvSpPr>
        <p:spPr>
          <a:xfrm>
            <a:off x="5120640" y="283464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Telemetry Standardization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4700016" y="3273552"/>
            <a:ext cx="190195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Replace proprietary instrumentation with vendor-neutral tracing.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6839712" y="2788920"/>
            <a:ext cx="2066544" cy="1417320"/>
          </a:xfrm>
          <a:prstGeom prst="rect">
            <a:avLst/>
          </a:prstGeom>
          <a:solidFill>
            <a:srgbClr val="1A1535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0" name="Google Shape;5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2864" y="28620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5"/>
          <p:cNvSpPr/>
          <p:nvPr/>
        </p:nvSpPr>
        <p:spPr>
          <a:xfrm>
            <a:off x="7333488" y="283464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Shift-Right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6912864" y="3273552"/>
            <a:ext cx="190195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Synthetic monitoring and progressive delivery with automated rollback.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274320" y="42793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"As software architectures grow increasingly complex, automated continuous performance validation becomes essential rather than optional."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31A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9" name="Google Shape;529;g3e5049c5ae2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e5049c5ae2_0_4"/>
          <p:cNvSpPr/>
          <p:nvPr/>
        </p:nvSpPr>
        <p:spPr>
          <a:xfrm>
            <a:off x="320040" y="109728"/>
            <a:ext cx="850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Feedback Is Not the Same as Full Validation.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e5049c5ae2_0_4"/>
          <p:cNvSpPr/>
          <p:nvPr/>
        </p:nvSpPr>
        <p:spPr>
          <a:xfrm>
            <a:off x="320040" y="621792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Pipeline performance testing and full-scale performance engineering are not competitors. They are partners. You need both.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2" name="Google Shape;532;g3e5049c5ae2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" y="1005840"/>
            <a:ext cx="411480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e5049c5ae2_0_4"/>
          <p:cNvSpPr/>
          <p:nvPr/>
        </p:nvSpPr>
        <p:spPr>
          <a:xfrm>
            <a:off x="256032" y="1005840"/>
            <a:ext cx="4114800" cy="2788800"/>
          </a:xfrm>
          <a:prstGeom prst="rect">
            <a:avLst/>
          </a:prstGeom>
          <a:noFill/>
          <a:ln cap="flat" cmpd="sng" w="12700">
            <a:solidFill>
              <a:srgbClr val="6B2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4" name="Google Shape;534;g3e5049c5ae2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" y="1005840"/>
            <a:ext cx="411480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e5049c5ae2_0_4"/>
          <p:cNvSpPr/>
          <p:nvPr/>
        </p:nvSpPr>
        <p:spPr>
          <a:xfrm>
            <a:off x="256032" y="1005840"/>
            <a:ext cx="4114800" cy="347400"/>
          </a:xfrm>
          <a:prstGeom prst="rect">
            <a:avLst/>
          </a:prstGeom>
          <a:noFill/>
          <a:ln cap="flat" cmpd="sng" w="12700">
            <a:solidFill>
              <a:srgbClr val="6B2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6" name="Google Shape;536;g3e5049c5ae2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048" y="1078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e5049c5ae2_0_4"/>
          <p:cNvSpPr/>
          <p:nvPr/>
        </p:nvSpPr>
        <p:spPr>
          <a:xfrm>
            <a:off x="676656" y="1024128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Shift-Left Pipeline Testing Gives You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8" name="Google Shape;538;g3e5049c5ae2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e5049c5ae2_0_4"/>
          <p:cNvSpPr/>
          <p:nvPr/>
        </p:nvSpPr>
        <p:spPr>
          <a:xfrm>
            <a:off x="676656" y="14447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Catches regressions at commit time before they compound.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0" name="Google Shape;540;g3e5049c5ae2_0_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760" y="19751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5049c5ae2_0_4"/>
          <p:cNvSpPr/>
          <p:nvPr/>
        </p:nvSpPr>
        <p:spPr>
          <a:xfrm>
            <a:off x="676656" y="19019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Developer feedback in 15 to 20 minutes per build.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2" name="Google Shape;542;g3e5049c5ae2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760" y="24323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e5049c5ae2_0_4"/>
          <p:cNvSpPr/>
          <p:nvPr/>
        </p:nvSpPr>
        <p:spPr>
          <a:xfrm>
            <a:off x="676656" y="23591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Runs lightweight in controlled environments like DIT and FIT.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4" name="Google Shape;544;g3e5049c5ae2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5760" y="28895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e5049c5ae2_0_4"/>
          <p:cNvSpPr/>
          <p:nvPr/>
        </p:nvSpPr>
        <p:spPr>
          <a:xfrm>
            <a:off x="676656" y="28163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Scoped to a single change — not the full platform.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6" name="Google Shape;546;g3e5049c5ae2_0_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576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e5049c5ae2_0_4"/>
          <p:cNvSpPr/>
          <p:nvPr/>
        </p:nvSpPr>
        <p:spPr>
          <a:xfrm>
            <a:off x="676656" y="32735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Empowers developers to own their own performance quality.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8" name="Google Shape;548;g3e5049c5ae2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168" y="1005840"/>
            <a:ext cx="411480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e5049c5ae2_0_4"/>
          <p:cNvSpPr/>
          <p:nvPr/>
        </p:nvSpPr>
        <p:spPr>
          <a:xfrm>
            <a:off x="4773168" y="1005840"/>
            <a:ext cx="4114800" cy="2788800"/>
          </a:xfrm>
          <a:prstGeom prst="rect">
            <a:avLst/>
          </a:prstGeom>
          <a:noFill/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e5049c5ae2_0_4"/>
          <p:cNvSpPr/>
          <p:nvPr/>
        </p:nvSpPr>
        <p:spPr>
          <a:xfrm>
            <a:off x="4773168" y="1005840"/>
            <a:ext cx="4114800" cy="347400"/>
          </a:xfrm>
          <a:prstGeom prst="rect">
            <a:avLst/>
          </a:prstGeom>
          <a:solidFill>
            <a:srgbClr val="071C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1" name="Google Shape;551;g3e5049c5ae2_0_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01184" y="1078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e5049c5ae2_0_4"/>
          <p:cNvSpPr/>
          <p:nvPr/>
        </p:nvSpPr>
        <p:spPr>
          <a:xfrm>
            <a:off x="5193792" y="1024128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What Your Performance Engineering Team Validates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3" name="Google Shape;553;g3e5049c5ae2_0_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01184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e5049c5ae2_0_4"/>
          <p:cNvSpPr/>
          <p:nvPr/>
        </p:nvSpPr>
        <p:spPr>
          <a:xfrm>
            <a:off x="5212080" y="14447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Stress tests at 10× or more of production load — not possible in pipeline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g3e5049c5ae2_0_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901184" y="19751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e5049c5ae2_0_4"/>
          <p:cNvSpPr/>
          <p:nvPr/>
        </p:nvSpPr>
        <p:spPr>
          <a:xfrm>
            <a:off x="5212080" y="19019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Soak testing over hours or days to expose memory leaks and gradual degradation.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7" name="Google Shape;557;g3e5049c5ae2_0_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01184" y="24323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e5049c5ae2_0_4"/>
          <p:cNvSpPr/>
          <p:nvPr/>
        </p:nvSpPr>
        <p:spPr>
          <a:xfrm>
            <a:off x="5212080" y="23591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Full production data volumes, topology, and real-world service interdependencies.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g3e5049c5ae2_0_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01184" y="28895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e5049c5ae2_0_4"/>
          <p:cNvSpPr/>
          <p:nvPr/>
        </p:nvSpPr>
        <p:spPr>
          <a:xfrm>
            <a:off x="5212080" y="28163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Regulated industry sign-off — financial services, healthcare, and compliance-driven capacity evidence.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1" name="Google Shape;561;g3e5049c5ae2_0_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901184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e5049c5ae2_0_4"/>
          <p:cNvSpPr/>
          <p:nvPr/>
        </p:nvSpPr>
        <p:spPr>
          <a:xfrm>
            <a:off x="5212080" y="3273552"/>
            <a:ext cx="3547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End-to-end business journey simulation across all services simultaneously.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g3e5049c5ae2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" y="3877056"/>
            <a:ext cx="8631936" cy="80467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e5049c5ae2_0_4"/>
          <p:cNvSpPr/>
          <p:nvPr/>
        </p:nvSpPr>
        <p:spPr>
          <a:xfrm>
            <a:off x="256032" y="3877056"/>
            <a:ext cx="8631900" cy="804600"/>
          </a:xfrm>
          <a:prstGeom prst="rect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e5049c5ae2_0_4"/>
          <p:cNvSpPr/>
          <p:nvPr/>
        </p:nvSpPr>
        <p:spPr>
          <a:xfrm>
            <a:off x="256032" y="3877056"/>
            <a:ext cx="91500" cy="804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6" name="Google Shape;566;g3e5049c5ae2_0_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0624" y="40050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e5049c5ae2_0_4"/>
          <p:cNvSpPr/>
          <p:nvPr/>
        </p:nvSpPr>
        <p:spPr>
          <a:xfrm>
            <a:off x="786384" y="3913632"/>
            <a:ext cx="797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Full-scale performance engineering validates the whole system under real-world conditions.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e5049c5ae2_0_4"/>
          <p:cNvSpPr/>
          <p:nvPr/>
        </p:nvSpPr>
        <p:spPr>
          <a:xfrm>
            <a:off x="786384" y="4187952"/>
            <a:ext cx="7973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Full-scale performance engineering validates what only emerges under production-scale stress, sustained load, and compound system behaviour. The performance engineering team owns the latter. Developers own the former.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g3e5049c5ae2_0_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5047488"/>
            <a:ext cx="9144000" cy="9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pipeline has no memory.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457200" y="76809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000"/>
              <a:buFont typeface="Calibri"/>
              <a:buNone/>
            </a:pPr>
            <a:r>
              <a:rPr b="1" i="0" lang="en-US" sz="24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Fix that this week.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256032" y="1543753"/>
            <a:ext cx="2761500" cy="15729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365760" y="1595992"/>
            <a:ext cx="420600" cy="4206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365760" y="160418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859536" y="1579611"/>
            <a:ext cx="2048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Week 1 today.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402336" y="1993392"/>
            <a:ext cx="2505456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Pick your top 3 highest-risk user journeys. Everything else can wait.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3163824" y="1543793"/>
            <a:ext cx="2761500" cy="15729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3273552" y="1563231"/>
            <a:ext cx="420600" cy="4206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3273552" y="1571421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3767328" y="1571421"/>
            <a:ext cx="2048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Tag your traffic.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3310128" y="1993392"/>
            <a:ext cx="2505456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Add X-Build-ID and X-Commit-SHA headers to your load tests. Any observability tool reads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6040061" y="1543793"/>
            <a:ext cx="2761500" cy="15729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6181344" y="1587802"/>
            <a:ext cx="420600" cy="4206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6181344" y="1563231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6675120" y="1579611"/>
            <a:ext cx="2048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one gate.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6217920" y="1993392"/>
            <a:ext cx="2505456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Response time p90 ±2σ. Just one. Ship it. Add the rest next sprint.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256025" y="3200375"/>
            <a:ext cx="8631900" cy="1002900"/>
          </a:xfrm>
          <a:prstGeom prst="rect">
            <a:avLst/>
          </a:prstGeom>
          <a:solidFill>
            <a:srgbClr val="1E1B4B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4" name="Google Shape;5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552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6"/>
          <p:cNvSpPr/>
          <p:nvPr/>
        </p:nvSpPr>
        <p:spPr>
          <a:xfrm>
            <a:off x="877825" y="3236975"/>
            <a:ext cx="343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linkedin.com/in/kandasamy-selvaraj-3ab97835/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6" name="Google Shape;5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32552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16"/>
          <p:cNvSpPr/>
          <p:nvPr/>
        </p:nvSpPr>
        <p:spPr>
          <a:xfrm>
            <a:off x="4736600" y="3200387"/>
            <a:ext cx="3968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Resources and templates shared after the talk.</a:t>
            </a:r>
            <a:endParaRPr b="0" i="1" sz="13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https://github.com/kandasamyperf-stack/perf-grimoire</a:t>
            </a:r>
            <a:endParaRPr b="0" i="1" sz="13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0" y="4251950"/>
            <a:ext cx="9144000" cy="88710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256035" y="4505860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Atlanta Cloud + AI Conference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16" title="image_87719c23-7f69-40e6-adc7-bcb04fe1b5d320260527_135831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2804" y="109725"/>
            <a:ext cx="1628096" cy="139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g3eb387e3ebe_1_0" title="Sponsor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2026-05-25T18:53:18Z</dcterms:created>
  <dc:creator>Kandasamy Selvaraj</dc:creator>
</cp:coreProperties>
</file>